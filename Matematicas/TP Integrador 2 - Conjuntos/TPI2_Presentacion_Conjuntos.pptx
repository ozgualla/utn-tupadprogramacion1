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0064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917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0064"/>
          </a:solidFill>
          <a:ln>
            <a:solidFill>
              <a:schemeClr val="tx1"/>
            </a:solidFill>
          </a:ln>
        </p:spPr>
      </p:sp>
      <p:sp>
        <p:nvSpPr>
          <p:cNvPr id="3" name="Shape 1"/>
          <p:cNvSpPr/>
          <p:nvPr/>
        </p:nvSpPr>
        <p:spPr>
          <a:xfrm>
            <a:off x="2286000" y="731520"/>
            <a:ext cx="2560320" cy="2286000"/>
          </a:xfrm>
          <a:prstGeom prst="ellipse">
            <a:avLst/>
          </a:prstGeom>
          <a:solidFill>
            <a:srgbClr val="2E5FA3">
              <a:alpha val="60000"/>
            </a:srgbClr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731520"/>
            <a:ext cx="2560320" cy="2286000"/>
          </a:xfrm>
          <a:prstGeom prst="ellipse">
            <a:avLst/>
          </a:prstGeom>
          <a:solidFill>
            <a:srgbClr val="1A7A6E">
              <a:alpha val="6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1645920"/>
            <a:ext cx="2560320" cy="2286000"/>
          </a:xfrm>
          <a:prstGeom prst="ellipse">
            <a:avLst/>
          </a:prstGeom>
          <a:solidFill>
            <a:srgbClr val="8B6914">
              <a:alpha val="60000"/>
            </a:srgbClr>
          </a:solidFill>
          <a:ln w="25400">
            <a:solidFill>
              <a:srgbClr val="FFB7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TRABAJO </a:t>
            </a:r>
            <a:r>
              <a:rPr lang="en-US" sz="1400" b="1" kern="0" spc="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PRÁCTICO INTEGRADOR </a:t>
            </a:r>
            <a:r>
              <a:rPr lang="en-US" sz="1400" b="1" kern="0" spc="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N° 2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Conjuntos y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Diagramas de Venn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Matemática · </a:t>
            </a:r>
            <a:r>
              <a:rPr lang="es-A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Tecnicatura Universitaria en Programación - Universidad Tecnológica Nacional</a:t>
            </a:r>
            <a:r>
              <a:rPr lang="es-AR" sz="1400" b="1" dirty="0"/>
              <a:t>.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006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Problemática abordada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00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¿Cuántos empleados usan cada sistema operativo?</a:t>
            </a:r>
            <a:endParaRPr lang="en-US" sz="1700" dirty="0">
              <a:solidFill>
                <a:srgbClr val="2800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7498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Una empresa informática tiene </a:t>
            </a: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50 empleados.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Cada empleado puede usar uno o más sistemas operativos de los tres disponibles: Windows, Linux y macOS.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 objetivo es calcular cuántos empleados usan cada sistema de forma exclusiva y cuántos los combinan, usando conjuntos y diagramas de Venn.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Universo y conjuntos definidos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1E4D9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Windows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|A| = 28 empleados</a:t>
            </a:r>
            <a:endParaRPr lang="en-US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0A6B5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005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4612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Linux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46120" y="2377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|B| = 22 empleados</a:t>
            </a:r>
            <a:endParaRPr lang="en-US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51760" cy="3108960"/>
          </a:xfrm>
          <a:prstGeom prst="roundRect">
            <a:avLst>
              <a:gd name="adj" fmla="val 5172"/>
            </a:avLst>
          </a:prstGeom>
          <a:solidFill>
            <a:schemeClr val="accent2">
              <a:lumMod val="60000"/>
              <a:lumOff val="40000"/>
            </a:schemeClr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005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2648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macOS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26480" y="2377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|C| = 15 empleados</a:t>
            </a:r>
            <a:endParaRPr lang="en-US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 = Totalidad de empleados de la empresa  |  |U| = 50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9832"/>
            <a:ext cx="9144000" cy="822960"/>
          </a:xfrm>
          <a:prstGeom prst="rect">
            <a:avLst/>
          </a:prstGeom>
          <a:solidFill>
            <a:srgbClr val="28006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Datos de las intersecciones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2743200" cy="640080"/>
          </a:xfrm>
          <a:prstGeom prst="rect">
            <a:avLst/>
          </a:prstGeom>
          <a:solidFill>
            <a:srgbClr val="28006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Intersección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868680"/>
            <a:ext cx="4297680" cy="640080"/>
          </a:xfrm>
          <a:prstGeom prst="rect">
            <a:avLst/>
          </a:prstGeom>
          <a:solidFill>
            <a:srgbClr val="28006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8686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Significado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223760" y="868680"/>
            <a:ext cx="1737360" cy="640080"/>
          </a:xfrm>
          <a:prstGeom prst="rect">
            <a:avLst/>
          </a:prstGeom>
          <a:solidFill>
            <a:srgbClr val="28006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868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Valor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2880" y="1527048"/>
            <a:ext cx="274320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52704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 ∩ B| = 10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0" y="1527048"/>
            <a:ext cx="429768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52704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Windows y Linux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23760" y="1527048"/>
            <a:ext cx="173736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52704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>
              <a:solidFill>
                <a:srgbClr val="280064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2880" y="2185416"/>
            <a:ext cx="274320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854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 ∩ C| = 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26080" y="2185416"/>
            <a:ext cx="429768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18541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Windows y macOS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3760" y="2185416"/>
            <a:ext cx="173736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185416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>
              <a:solidFill>
                <a:srgbClr val="280064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82880" y="2843784"/>
            <a:ext cx="274320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84378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|B ∩ C| = 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926080" y="2843784"/>
            <a:ext cx="429768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284378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Linux y macOS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23760" y="2843784"/>
            <a:ext cx="173736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2843784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rgbClr val="280064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2880" y="3502152"/>
            <a:ext cx="274320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5021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 ∩ B ∩ C| = 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926080" y="3502152"/>
            <a:ext cx="429768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350215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los tres sistemas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23760" y="3502152"/>
            <a:ext cx="173736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50215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rgbClr val="28006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006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Resolución matemática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2377440" cy="457200"/>
          </a:xfrm>
          <a:prstGeom prst="rect">
            <a:avLst/>
          </a:prstGeom>
          <a:solidFill>
            <a:srgbClr val="28006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Región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0" y="868680"/>
            <a:ext cx="4023360" cy="457200"/>
          </a:xfrm>
          <a:prstGeom prst="rect">
            <a:avLst/>
          </a:prstGeom>
          <a:solidFill>
            <a:srgbClr val="28006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868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Fórmula aplicada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0" y="868680"/>
            <a:ext cx="2377440" cy="457200"/>
          </a:xfrm>
          <a:prstGeom prst="rect">
            <a:avLst/>
          </a:prstGeom>
          <a:solidFill>
            <a:srgbClr val="28006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868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Resultado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2880" y="1344168"/>
            <a:ext cx="237744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344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1344168"/>
            <a:ext cx="402336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3441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28 - (10 - 2) - (6 - 2) -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1344168"/>
            <a:ext cx="237744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344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>
              <a:solidFill>
                <a:srgbClr val="280064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2880" y="1819656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8196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1819656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18196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22 - (10 - 2) - (5 - 2) -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1819656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8196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>
              <a:solidFill>
                <a:srgbClr val="280064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82880" y="2295144"/>
            <a:ext cx="237744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295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0" y="2295144"/>
            <a:ext cx="402336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2951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15 - (6 - 2) - (5 - 2) -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2295144"/>
            <a:ext cx="237744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295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>
              <a:solidFill>
                <a:srgbClr val="280064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2880" y="2770632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7706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A∩B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0" y="2770632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7706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10 - 2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2770632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27706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>
              <a:solidFill>
                <a:srgbClr val="280064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82880" y="3246120"/>
            <a:ext cx="237744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A∩C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60320" y="3246120"/>
            <a:ext cx="402336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6 - 2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0" y="3246120"/>
            <a:ext cx="237744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>
              <a:solidFill>
                <a:srgbClr val="280064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82880" y="3721608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37216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B∩C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60320" y="3721608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37216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5 - 2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583680" y="3721608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37216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>
              <a:solidFill>
                <a:srgbClr val="280064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82880" y="4197096"/>
            <a:ext cx="237744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41970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A∩B∩C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560320" y="4197096"/>
            <a:ext cx="402336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6040" y="41970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583680" y="4197096"/>
            <a:ext cx="237744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41970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>
              <a:solidFill>
                <a:srgbClr val="280064"/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82880" y="4672584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46725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560320" y="467258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06040" y="467258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50 - 46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583680" y="4672584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46725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>
              <a:solidFill>
                <a:srgbClr val="28006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Diagrama de Venn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3840480" cy="3108960"/>
          </a:xfrm>
          <a:prstGeom prst="ellipse">
            <a:avLst/>
          </a:prstGeom>
          <a:solidFill>
            <a:srgbClr val="2E5FA3">
              <a:alpha val="40000"/>
            </a:srgbClr>
          </a:solidFill>
          <a:ln w="25400">
            <a:solidFill>
              <a:srgbClr val="1E4D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868680"/>
            <a:ext cx="3840480" cy="3108960"/>
          </a:xfrm>
          <a:prstGeom prst="ellipse">
            <a:avLst/>
          </a:prstGeom>
          <a:solidFill>
            <a:srgbClr val="1A7A6E">
              <a:alpha val="40000"/>
            </a:srgbClr>
          </a:solidFill>
          <a:ln w="25400">
            <a:solidFill>
              <a:srgbClr val="0A6B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828800"/>
            <a:ext cx="3840480" cy="3108960"/>
          </a:xfrm>
          <a:prstGeom prst="ellipse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 w="25400">
            <a:solidFill>
              <a:srgbClr val="7A53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9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· Windows · 28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20640" y="143723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6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 · Linux · 22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34640" y="4473677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531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 · macOS · 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2377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4473677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800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Ninguno: 4</a:t>
            </a:r>
            <a:endParaRPr lang="en-US" sz="1600" dirty="0">
              <a:solidFill>
                <a:srgbClr val="2800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006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Programa en Python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00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Estrategia de desarrollo:</a:t>
            </a:r>
            <a:endParaRPr lang="en-US" sz="1500" dirty="0">
              <a:solidFill>
                <a:srgbClr val="2800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Solicitar los datos al usuario (universo, conjuntos, intersecciones)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Calcular regiones aplicando la fórmula de conjuntos exclusivos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Verificar con el Principio de Inclusión-Exclusión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Mostrar resultados detallados con verificación automática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2011680"/>
          </a:xfrm>
          <a:prstGeom prst="roundRect">
            <a:avLst>
              <a:gd name="adj" fmla="val 4545"/>
            </a:avLst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D9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Ejemplo: Cálculo de la región exclusiva de A (Windows)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D9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solo_a = cant_a - (ab - abc) - (ac - abc) - abc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D9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Verificación total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D9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solo_a + solo_b + solo_c + solo_ab + solo_ac + solo_bc + abc + ninguno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IA utilizadas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EBF0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33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ideas para el escenario y revisión de fórmulas matemáticas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E8F5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67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desarrollo matemático y mejora del código Python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EF8E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02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estilo en la presentación y detección de errores lógicos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00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Reflexión final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00400"/>
          </a:xfrm>
          <a:prstGeom prst="roundRect">
            <a:avLst>
              <a:gd name="adj" fmla="val 4286"/>
            </a:avLst>
          </a:prstGeom>
          <a:solidFill>
            <a:schemeClr val="accent1">
              <a:lumMod val="50000"/>
              <a:alpha val="80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6949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Este trabajo permitió aplicar los conceptos de conjuntos en una situación real del mundo IT.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 programación en Python demostró cómo la matemática puede automatizarse de forma práctica.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 uso de herramientas de IA ayudó a validar resultados y mejorar la solución, integrando distintas perspectivas en el proceso de aprendizaje.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500</Words>
  <Application>Microsoft Office PowerPoint</Application>
  <PresentationFormat>On-screen Show (16:9)</PresentationFormat>
  <Paragraphs>111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TP2 - Conjuntos y Diagramas de Venn</dc:title>
  <dc:subject>PptxGenJS Presentation</dc:subject>
  <dc:creator>PptxGenJS</dc:creator>
  <cp:lastModifiedBy>Oz Gualla</cp:lastModifiedBy>
  <cp:revision>3</cp:revision>
  <dcterms:created xsi:type="dcterms:W3CDTF">2026-06-13T14:09:54Z</dcterms:created>
  <dcterms:modified xsi:type="dcterms:W3CDTF">2026-06-13T14:54:34Z</dcterms:modified>
</cp:coreProperties>
</file>